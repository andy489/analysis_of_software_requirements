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Текстов контейнер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Текстов контейнер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Контейнер за картина 2"/>
          <p:cNvSpPr/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spring-bouquet-yellow-tulips-mimosa-flowers-mother-s-day-8-march-easter-concept_116705-701.jpg" descr="spring-bouquet-yellow-tulips-mimosa-flowers-mother-s-day-8-march-easter-concept_116705-701.jpg"/>
          <p:cNvPicPr>
            <a:picLocks noChangeAspect="1"/>
          </p:cNvPicPr>
          <p:nvPr/>
        </p:nvPicPr>
        <p:blipFill>
          <a:blip r:embed="rId2">
            <a:alphaModFix amt="87780"/>
            <a:extLst/>
          </a:blip>
          <a:stretch>
            <a:fillRect/>
          </a:stretch>
        </p:blipFill>
        <p:spPr>
          <a:xfrm>
            <a:off x="-41011" y="-659073"/>
            <a:ext cx="12274023" cy="8176146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Текстово поле 7"/>
          <p:cNvSpPr txBox="1"/>
          <p:nvPr/>
        </p:nvSpPr>
        <p:spPr>
          <a:xfrm>
            <a:off x="3136132" y="2605851"/>
            <a:ext cx="6216598" cy="1646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4800">
                <a:solidFill>
                  <a:srgbClr val="C59C32"/>
                </a:solidFill>
                <a:effectLst>
                  <a:outerShdw sx="100000" sy="100000" kx="0" ky="0" algn="b" rotWithShape="0" blurRad="38100" dist="19050" dir="2700000">
                    <a:srgbClr val="000000">
                      <a:alpha val="4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defRPr>
            </a:pPr>
            <a:r>
              <a:t>Честит </a:t>
            </a:r>
            <a:r>
              <a:rPr sz="6000"/>
              <a:t>8-ми</a:t>
            </a:r>
            <a:r>
              <a:t> МАРТ! </a:t>
            </a:r>
          </a:p>
          <a:p>
            <a:pPr algn="ctr">
              <a:defRPr b="1" sz="4800">
                <a:solidFill>
                  <a:srgbClr val="C59C32"/>
                </a:solidFill>
                <a:effectLst>
                  <a:outerShdw sx="100000" sy="100000" kx="0" ky="0" algn="b" rotWithShape="0" blurRad="38100" dist="19050" dir="2700000">
                    <a:srgbClr val="000000">
                      <a:alpha val="4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defRPr>
            </a:pPr>
            <a:r>
              <a:t>Весел празник!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Правоъгъл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alpha val="90000"/>
            </a:scheme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00" name="Групиране 2"/>
          <p:cNvGrpSpPr/>
          <p:nvPr/>
        </p:nvGrpSpPr>
        <p:grpSpPr>
          <a:xfrm>
            <a:off x="0" y="937037"/>
            <a:ext cx="12192000" cy="3677481"/>
            <a:chOff x="0" y="0"/>
            <a:chExt cx="12192000" cy="3677480"/>
          </a:xfrm>
        </p:grpSpPr>
        <p:sp>
          <p:nvSpPr>
            <p:cNvPr id="98" name="Правоъгълник 5"/>
            <p:cNvSpPr/>
            <p:nvPr/>
          </p:nvSpPr>
          <p:spPr>
            <a:xfrm>
              <a:off x="0" y="-1"/>
              <a:ext cx="12192000" cy="367748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pic>
          <p:nvPicPr>
            <p:cNvPr id="99" name="Картина 3" descr="Картина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95387" y="77028"/>
              <a:ext cx="9801226" cy="36004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01" name="Текстово поле 7"/>
          <p:cNvSpPr txBox="1"/>
          <p:nvPr/>
        </p:nvSpPr>
        <p:spPr>
          <a:xfrm>
            <a:off x="2433320" y="4905226"/>
            <a:ext cx="7325360" cy="959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Изготвена от: Кирил Голов 62360, Ивана Попова 62339, Калоян Николов 62252, Светлин Попиванов 62275, Андрей Стоев 62369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Текстово поле 2"/>
          <p:cNvSpPr txBox="1"/>
          <p:nvPr/>
        </p:nvSpPr>
        <p:spPr>
          <a:xfrm>
            <a:off x="3092891" y="643433"/>
            <a:ext cx="6006218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Съдържание</a:t>
            </a:r>
          </a:p>
        </p:txBody>
      </p:sp>
      <p:sp>
        <p:nvSpPr>
          <p:cNvPr id="104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5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6" name="Текстово поле 7"/>
          <p:cNvSpPr txBox="1"/>
          <p:nvPr/>
        </p:nvSpPr>
        <p:spPr>
          <a:xfrm>
            <a:off x="2455338" y="1504829"/>
            <a:ext cx="7281324" cy="4704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Предназначение</a:t>
            </a:r>
          </a:p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Характеристики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Управление на изисквания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Проследяемост на изисквания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Генериране на отчети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Управление на документи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Управление на тестове и автоматизирано тестване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Управление на сорс кода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Интеграции с външни системи</a:t>
            </a:r>
          </a:p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Live Demo</a:t>
            </a:r>
          </a:p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Предимства и недостатъци</a:t>
            </a:r>
          </a:p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Заключение</a:t>
            </a:r>
          </a:p>
        </p:txBody>
      </p:sp>
      <p:pic>
        <p:nvPicPr>
          <p:cNvPr id="107" name="Картина 6" descr="Картина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Групиране 4"/>
          <p:cNvGrpSpPr/>
          <p:nvPr/>
        </p:nvGrpSpPr>
        <p:grpSpPr>
          <a:xfrm>
            <a:off x="2014219" y="487738"/>
            <a:ext cx="10932163" cy="5450725"/>
            <a:chOff x="0" y="0"/>
            <a:chExt cx="10932161" cy="5450724"/>
          </a:xfrm>
        </p:grpSpPr>
        <p:pic>
          <p:nvPicPr>
            <p:cNvPr id="109" name="Картина 3" descr="Картина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1278" y="1335921"/>
              <a:ext cx="7315203" cy="411480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92100" dist="139700" dir="2700000">
                <a:srgbClr val="333333">
                  <a:alpha val="64999"/>
                </a:srgbClr>
              </a:outerShdw>
            </a:effectLst>
          </p:spPr>
        </p:pic>
        <p:sp>
          <p:nvSpPr>
            <p:cNvPr id="110" name="Текстово поле 2"/>
            <p:cNvSpPr txBox="1"/>
            <p:nvPr/>
          </p:nvSpPr>
          <p:spPr>
            <a:xfrm>
              <a:off x="-1" y="-1"/>
              <a:ext cx="10932162" cy="41808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>
                <a:defRPr spc="50" sz="6600">
                  <a:ln w="3175" cap="flat">
                    <a:solidFill>
                      <a:srgbClr val="FFFFFF"/>
                    </a:solidFill>
                    <a:prstDash val="solid"/>
                    <a:round/>
                  </a:ln>
                  <a:solidFill>
                    <a:srgbClr val="FFFFFF"/>
                  </a:solidFill>
                  <a:effectLst>
                    <a:outerShdw sx="100000" sy="100000" kx="0" ky="0" algn="b" rotWithShape="0" blurRad="63500" dist="0" dir="0">
                      <a:srgbClr val="000000">
                        <a:alpha val="40000"/>
                      </a:srgbClr>
                    </a:outerShdw>
                  </a:effectLst>
                  <a:latin typeface="Arial Black"/>
                  <a:ea typeface="Arial Black"/>
                  <a:cs typeface="Arial Black"/>
                  <a:sym typeface="Arial Black"/>
                </a:defRPr>
              </a:pPr>
              <a:r>
                <a:t>What is </a:t>
              </a:r>
            </a:p>
            <a:p>
              <a:pPr>
                <a:defRPr spc="50" sz="6600">
                  <a:ln w="3175" cap="flat">
                    <a:solidFill>
                      <a:srgbClr val="FFFFFF"/>
                    </a:solidFill>
                    <a:prstDash val="solid"/>
                    <a:round/>
                  </a:ln>
                  <a:solidFill>
                    <a:srgbClr val="FFFFFF"/>
                  </a:solidFill>
                  <a:effectLst>
                    <a:outerShdw sx="100000" sy="100000" kx="0" ky="0" algn="b" rotWithShape="0" blurRad="63500" dist="0" dir="0">
                      <a:srgbClr val="000000">
                        <a:alpha val="40000"/>
                      </a:srgbClr>
                    </a:outerShdw>
                  </a:effectLst>
                  <a:latin typeface="Arial Black"/>
                  <a:ea typeface="Arial Black"/>
                  <a:cs typeface="Arial Black"/>
                  <a:sym typeface="Arial Black"/>
                </a:defRPr>
              </a:pPr>
              <a:r>
                <a:t>                           </a:t>
              </a:r>
            </a:p>
            <a:p>
              <a:pPr>
                <a:defRPr spc="50" sz="6600">
                  <a:ln w="3175" cap="flat">
                    <a:solidFill>
                      <a:srgbClr val="FFFFFF"/>
                    </a:solidFill>
                    <a:prstDash val="solid"/>
                    <a:round/>
                  </a:ln>
                  <a:solidFill>
                    <a:srgbClr val="FFFFFF"/>
                  </a:solidFill>
                  <a:effectLst>
                    <a:outerShdw sx="100000" sy="100000" kx="0" ky="0" algn="b" rotWithShape="0" blurRad="63500" dist="0" dir="0">
                      <a:srgbClr val="000000">
                        <a:alpha val="40000"/>
                      </a:srgbClr>
                    </a:outerShdw>
                  </a:effectLst>
                  <a:latin typeface="Arial Black"/>
                  <a:ea typeface="Arial Black"/>
                  <a:cs typeface="Arial Black"/>
                  <a:sym typeface="Arial Black"/>
                </a:defRPr>
              </a:pPr>
              <a:r>
                <a:t>                       </a:t>
              </a:r>
              <a:r>
                <a:rPr sz="9600"/>
                <a:t>?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Текстово поле 2"/>
          <p:cNvSpPr txBox="1"/>
          <p:nvPr/>
        </p:nvSpPr>
        <p:spPr>
          <a:xfrm>
            <a:off x="3092891" y="643433"/>
            <a:ext cx="6006218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Предназначение</a:t>
            </a:r>
          </a:p>
        </p:txBody>
      </p:sp>
      <p:sp>
        <p:nvSpPr>
          <p:cNvPr id="114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5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6" name="Текстово поле 6"/>
          <p:cNvSpPr txBox="1"/>
          <p:nvPr/>
        </p:nvSpPr>
        <p:spPr>
          <a:xfrm>
            <a:off x="441007" y="2478666"/>
            <a:ext cx="7597100" cy="2215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Spira Team</a:t>
            </a:r>
            <a:r>
              <a:rPr b="0"/>
              <a:t> е ALM система, която проследява: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Софтуерни изисквания;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Тестови сценарии;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Releases;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Бъгове;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Контрол на версиите.</a:t>
            </a:r>
          </a:p>
        </p:txBody>
      </p:sp>
      <p:pic>
        <p:nvPicPr>
          <p:cNvPr id="11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75071" y="2379021"/>
            <a:ext cx="1990727" cy="2295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Картина 12" descr="Картина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Текстово поле 2"/>
          <p:cNvSpPr txBox="1"/>
          <p:nvPr/>
        </p:nvSpPr>
        <p:spPr>
          <a:xfrm>
            <a:off x="3092891" y="643433"/>
            <a:ext cx="6006218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Предназначение</a:t>
            </a:r>
          </a:p>
        </p:txBody>
      </p:sp>
      <p:sp>
        <p:nvSpPr>
          <p:cNvPr id="121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2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3" name="Текстово поле 6"/>
          <p:cNvSpPr txBox="1"/>
          <p:nvPr/>
        </p:nvSpPr>
        <p:spPr>
          <a:xfrm>
            <a:off x="2297448" y="1449066"/>
            <a:ext cx="7597101" cy="43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Spira Team</a:t>
            </a:r>
            <a:r>
              <a:rPr b="0"/>
              <a:t> е част от пакета продукти на </a:t>
            </a:r>
            <a:r>
              <a:t>Inflectra</a:t>
            </a:r>
            <a:r>
              <a:rPr b="0"/>
              <a:t>.</a:t>
            </a:r>
          </a:p>
        </p:txBody>
      </p:sp>
      <p:pic>
        <p:nvPicPr>
          <p:cNvPr id="124" name="Картина 10" descr="Картина 10"/>
          <p:cNvPicPr>
            <a:picLocks noChangeAspect="1"/>
          </p:cNvPicPr>
          <p:nvPr/>
        </p:nvPicPr>
        <p:blipFill>
          <a:blip r:embed="rId2">
            <a:extLst/>
          </a:blip>
          <a:srcRect l="9348" t="21349" r="19890" b="5099"/>
          <a:stretch>
            <a:fillRect/>
          </a:stretch>
        </p:blipFill>
        <p:spPr>
          <a:xfrm>
            <a:off x="2107407" y="1981910"/>
            <a:ext cx="7977185" cy="466190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Картина 7" descr="Картина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Текстово поле 2"/>
          <p:cNvSpPr txBox="1"/>
          <p:nvPr/>
        </p:nvSpPr>
        <p:spPr>
          <a:xfrm>
            <a:off x="3092891" y="643433"/>
            <a:ext cx="6006218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Характеристики</a:t>
            </a:r>
          </a:p>
        </p:txBody>
      </p:sp>
      <p:sp>
        <p:nvSpPr>
          <p:cNvPr id="128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9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0" name="Текстово поле 6"/>
          <p:cNvSpPr txBox="1"/>
          <p:nvPr/>
        </p:nvSpPr>
        <p:spPr>
          <a:xfrm>
            <a:off x="423407" y="1832180"/>
            <a:ext cx="10371153" cy="22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Управлява изискванията</a:t>
            </a:r>
            <a:r>
              <a:rPr b="0"/>
              <a:t>: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Функционални изисквания;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Нефункционални изисквания;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Бизнес изисквания;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Изисквания на всички </a:t>
            </a:r>
          </a:p>
          <a:p>
            <a:pPr lvl="1" indent="457200"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     заинтересовани лица.</a:t>
            </a:r>
          </a:p>
        </p:txBody>
      </p:sp>
      <p:pic>
        <p:nvPicPr>
          <p:cNvPr id="131" name="Картина 8" descr="Картина 8"/>
          <p:cNvPicPr>
            <a:picLocks noChangeAspect="1"/>
          </p:cNvPicPr>
          <p:nvPr/>
        </p:nvPicPr>
        <p:blipFill>
          <a:blip r:embed="rId2">
            <a:extLst/>
          </a:blip>
          <a:srcRect l="0" t="9349" r="2499" b="7225"/>
          <a:stretch>
            <a:fillRect/>
          </a:stretch>
        </p:blipFill>
        <p:spPr>
          <a:xfrm>
            <a:off x="4715681" y="3037072"/>
            <a:ext cx="7098632" cy="347743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92100" dist="139700" dir="2700000">
              <a:srgbClr val="333333">
                <a:alpha val="64999"/>
              </a:srgbClr>
            </a:outerShdw>
          </a:effectLst>
        </p:spPr>
      </p:pic>
      <p:pic>
        <p:nvPicPr>
          <p:cNvPr id="132" name="Картина 9" descr="Картина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Текстово поле 2"/>
          <p:cNvSpPr txBox="1"/>
          <p:nvPr/>
        </p:nvSpPr>
        <p:spPr>
          <a:xfrm>
            <a:off x="3092891" y="643433"/>
            <a:ext cx="6006218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Характеристики</a:t>
            </a:r>
          </a:p>
        </p:txBody>
      </p:sp>
      <p:sp>
        <p:nvSpPr>
          <p:cNvPr id="135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6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7" name="Текстово поле 6"/>
          <p:cNvSpPr txBox="1"/>
          <p:nvPr/>
        </p:nvSpPr>
        <p:spPr>
          <a:xfrm>
            <a:off x="178240" y="1341935"/>
            <a:ext cx="12100563" cy="1148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Пълна проследяемост на изискванията</a:t>
            </a:r>
            <a:r>
              <a:rPr b="0"/>
              <a:t>: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Лесно генериране на Traceability Report – с един клик;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Възможност за добавяне на коментари към всяко изискване.</a:t>
            </a:r>
          </a:p>
        </p:txBody>
      </p:sp>
      <p:pic>
        <p:nvPicPr>
          <p:cNvPr id="138" name="Картина 9" descr="Картина 9"/>
          <p:cNvPicPr>
            <a:picLocks noChangeAspect="1"/>
          </p:cNvPicPr>
          <p:nvPr/>
        </p:nvPicPr>
        <p:blipFill>
          <a:blip r:embed="rId2">
            <a:extLst/>
          </a:blip>
          <a:srcRect l="11957" t="17375" r="13151" b="20565"/>
          <a:stretch>
            <a:fillRect/>
          </a:stretch>
        </p:blipFill>
        <p:spPr>
          <a:xfrm>
            <a:off x="327413" y="3588882"/>
            <a:ext cx="6557169" cy="305493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92100" dist="139700" dir="2700000">
              <a:srgbClr val="333333">
                <a:alpha val="64999"/>
              </a:srgbClr>
            </a:outerShdw>
          </a:effectLst>
        </p:spPr>
      </p:pic>
      <p:pic>
        <p:nvPicPr>
          <p:cNvPr id="139" name="Картина 7" descr="Картина 7"/>
          <p:cNvPicPr>
            <a:picLocks noChangeAspect="1"/>
          </p:cNvPicPr>
          <p:nvPr/>
        </p:nvPicPr>
        <p:blipFill>
          <a:blip r:embed="rId3">
            <a:extLst/>
          </a:blip>
          <a:srcRect l="18913" t="15056" r="23152" b="30232"/>
          <a:stretch>
            <a:fillRect/>
          </a:stretch>
        </p:blipFill>
        <p:spPr>
          <a:xfrm>
            <a:off x="5564683" y="2721640"/>
            <a:ext cx="6217971" cy="330147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92100" dist="139700" dir="2700000">
              <a:srgbClr val="333333">
                <a:alpha val="64999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Текстово поле 2"/>
          <p:cNvSpPr txBox="1"/>
          <p:nvPr/>
        </p:nvSpPr>
        <p:spPr>
          <a:xfrm>
            <a:off x="617418" y="649881"/>
            <a:ext cx="6006219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Характеристики</a:t>
            </a:r>
          </a:p>
        </p:txBody>
      </p:sp>
      <p:sp>
        <p:nvSpPr>
          <p:cNvPr id="142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3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4" name="Текстово поле 6"/>
          <p:cNvSpPr txBox="1"/>
          <p:nvPr/>
        </p:nvSpPr>
        <p:spPr>
          <a:xfrm>
            <a:off x="479727" y="2732358"/>
            <a:ext cx="6471901" cy="1503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lvl2pPr>
          </a:lstStyle>
          <a:p>
            <a:pPr/>
            <a:r>
              <a:t>Генериране на отчети:</a:t>
            </a:r>
          </a:p>
          <a:p>
            <a:pPr lvl="1"/>
            <a:r>
              <a:t>Освен Traceability report, лесно е и генерирането на всякакви видове отчети.</a:t>
            </a:r>
          </a:p>
        </p:txBody>
      </p:sp>
      <p:pic>
        <p:nvPicPr>
          <p:cNvPr id="145" name="Картина 5" descr="Картина 5"/>
          <p:cNvPicPr>
            <a:picLocks noChangeAspect="1"/>
          </p:cNvPicPr>
          <p:nvPr/>
        </p:nvPicPr>
        <p:blipFill>
          <a:blip r:embed="rId2">
            <a:extLst/>
          </a:blip>
          <a:srcRect l="891" t="24719" r="75604" b="6259"/>
          <a:stretch>
            <a:fillRect/>
          </a:stretch>
        </p:blipFill>
        <p:spPr>
          <a:xfrm>
            <a:off x="8017563" y="-33431"/>
            <a:ext cx="4174437" cy="68914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Картина 10" descr="Картина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Текстово поле 2"/>
          <p:cNvSpPr txBox="1"/>
          <p:nvPr/>
        </p:nvSpPr>
        <p:spPr>
          <a:xfrm>
            <a:off x="3092891" y="642552"/>
            <a:ext cx="6006218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Характеристики</a:t>
            </a:r>
          </a:p>
        </p:txBody>
      </p:sp>
      <p:sp>
        <p:nvSpPr>
          <p:cNvPr id="149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0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1" name="Текстово поле 6"/>
          <p:cNvSpPr txBox="1"/>
          <p:nvPr/>
        </p:nvSpPr>
        <p:spPr>
          <a:xfrm>
            <a:off x="849132" y="1431721"/>
            <a:ext cx="10493735" cy="1148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marL="800100" indent="-342900" algn="just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lvl2pPr>
          </a:lstStyle>
          <a:p>
            <a:pPr/>
            <a:r>
              <a:t>Управление на документи:</a:t>
            </a:r>
          </a:p>
          <a:p>
            <a:pPr lvl="1"/>
            <a:r>
              <a:t>Пълна система за управление на документация, със следене на версии, и методология за одобряване.</a:t>
            </a:r>
          </a:p>
        </p:txBody>
      </p:sp>
      <p:pic>
        <p:nvPicPr>
          <p:cNvPr id="152" name="Картина 7" descr="Картина 7"/>
          <p:cNvPicPr>
            <a:picLocks noChangeAspect="1"/>
          </p:cNvPicPr>
          <p:nvPr/>
        </p:nvPicPr>
        <p:blipFill>
          <a:blip r:embed="rId2">
            <a:extLst/>
          </a:blip>
          <a:srcRect l="18323" t="9350" r="1413" b="17277"/>
          <a:stretch>
            <a:fillRect/>
          </a:stretch>
        </p:blipFill>
        <p:spPr>
          <a:xfrm>
            <a:off x="2572244" y="2892399"/>
            <a:ext cx="7047512" cy="362210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92100" dist="139700" dir="2700000">
              <a:srgbClr val="333333">
                <a:alpha val="64999"/>
              </a:srgbClr>
            </a:outerShdw>
          </a:effectLst>
        </p:spPr>
      </p:pic>
      <p:pic>
        <p:nvPicPr>
          <p:cNvPr id="153" name="Картина 10" descr="Картина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Текстово поле 2"/>
          <p:cNvSpPr txBox="1"/>
          <p:nvPr/>
        </p:nvSpPr>
        <p:spPr>
          <a:xfrm>
            <a:off x="3092891" y="642552"/>
            <a:ext cx="6006218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Характеристики</a:t>
            </a:r>
          </a:p>
        </p:txBody>
      </p:sp>
      <p:sp>
        <p:nvSpPr>
          <p:cNvPr id="156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8" name="Текстово поле 6"/>
          <p:cNvSpPr txBox="1"/>
          <p:nvPr/>
        </p:nvSpPr>
        <p:spPr>
          <a:xfrm>
            <a:off x="297510" y="2425837"/>
            <a:ext cx="4732353" cy="292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Управление на тестове и автоматизирано тестване:</a:t>
            </a:r>
          </a:p>
          <a:p>
            <a:pPr lvl="1" marL="800100" indent="-342900" algn="just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Съхранява всички Test Cases на едно място, улеснява автоматизираното тестване с помощта на </a:t>
            </a:r>
            <a:r>
              <a:rPr b="1"/>
              <a:t>Rapise</a:t>
            </a:r>
            <a:r>
              <a:t>.</a:t>
            </a:r>
          </a:p>
        </p:txBody>
      </p:sp>
      <p:pic>
        <p:nvPicPr>
          <p:cNvPr id="159" name="Картина 11" descr="Картина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25109" y="1796681"/>
            <a:ext cx="6515101" cy="430530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92100" dist="139700" dir="2700000">
              <a:srgbClr val="333333">
                <a:alpha val="64999"/>
              </a:srgbClr>
            </a:outerShdw>
          </a:effectLst>
        </p:spPr>
      </p:pic>
      <p:pic>
        <p:nvPicPr>
          <p:cNvPr id="160" name="Картина 12" descr="Картина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Текстово поле 2"/>
          <p:cNvSpPr txBox="1"/>
          <p:nvPr/>
        </p:nvSpPr>
        <p:spPr>
          <a:xfrm>
            <a:off x="3092891" y="642552"/>
            <a:ext cx="6006218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Характеристики</a:t>
            </a:r>
          </a:p>
        </p:txBody>
      </p:sp>
      <p:sp>
        <p:nvSpPr>
          <p:cNvPr id="163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4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" name="Текстово поле 6"/>
          <p:cNvSpPr txBox="1"/>
          <p:nvPr/>
        </p:nvSpPr>
        <p:spPr>
          <a:xfrm>
            <a:off x="1576345" y="4583149"/>
            <a:ext cx="8992927" cy="1503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lvl2pPr>
          </a:lstStyle>
          <a:p>
            <a:pPr/>
            <a:r>
              <a:t>Управление на Сорс кода:</a:t>
            </a:r>
          </a:p>
          <a:p>
            <a:pPr lvl="1"/>
            <a:r>
              <a:t>Интеграция с Git. Позволява проследяване на ниво сорс код. Прави логична връзка между commit и удовлетворяване на дадено изискване.</a:t>
            </a:r>
          </a:p>
        </p:txBody>
      </p:sp>
      <p:pic>
        <p:nvPicPr>
          <p:cNvPr id="166" name="Картина 5" descr="Картина 5"/>
          <p:cNvPicPr>
            <a:picLocks noChangeAspect="1"/>
          </p:cNvPicPr>
          <p:nvPr/>
        </p:nvPicPr>
        <p:blipFill>
          <a:blip r:embed="rId2">
            <a:extLst/>
          </a:blip>
          <a:srcRect l="0" t="18778" r="1305" b="50000"/>
          <a:stretch>
            <a:fillRect/>
          </a:stretch>
        </p:blipFill>
        <p:spPr>
          <a:xfrm>
            <a:off x="544993" y="2098232"/>
            <a:ext cx="11102012" cy="197454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92100" dist="139700" dir="2700000">
              <a:srgbClr val="333333">
                <a:alpha val="64999"/>
              </a:srgbClr>
            </a:outerShdw>
          </a:effectLst>
        </p:spPr>
      </p:pic>
      <p:pic>
        <p:nvPicPr>
          <p:cNvPr id="167" name="Картина 10" descr="Картина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Текстово поле 2"/>
          <p:cNvSpPr txBox="1"/>
          <p:nvPr/>
        </p:nvSpPr>
        <p:spPr>
          <a:xfrm>
            <a:off x="3092891" y="642552"/>
            <a:ext cx="6006218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Характеристики</a:t>
            </a:r>
          </a:p>
        </p:txBody>
      </p:sp>
      <p:sp>
        <p:nvSpPr>
          <p:cNvPr id="170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" name="Текстово поле 6"/>
          <p:cNvSpPr txBox="1"/>
          <p:nvPr/>
        </p:nvSpPr>
        <p:spPr>
          <a:xfrm>
            <a:off x="423404" y="2039548"/>
            <a:ext cx="5487729" cy="36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Интеграции с множество системи: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Developer IDEs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Build Servers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Modelling Tools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Source code management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Unit testing frameworks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Bug-tracking tools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Functional testing tools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Performance testing tools</a:t>
            </a:r>
          </a:p>
        </p:txBody>
      </p:sp>
      <p:pic>
        <p:nvPicPr>
          <p:cNvPr id="173" name="Картина 7" descr="Картина 7"/>
          <p:cNvPicPr>
            <a:picLocks noChangeAspect="1"/>
          </p:cNvPicPr>
          <p:nvPr/>
        </p:nvPicPr>
        <p:blipFill>
          <a:blip r:embed="rId2">
            <a:extLst/>
          </a:blip>
          <a:srcRect l="11847" t="24143" r="17934" b="9333"/>
          <a:stretch>
            <a:fillRect/>
          </a:stretch>
        </p:blipFill>
        <p:spPr>
          <a:xfrm>
            <a:off x="5085005" y="2039547"/>
            <a:ext cx="6526926" cy="347667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92100" dist="139700" dir="2700000">
              <a:srgbClr val="333333">
                <a:alpha val="64999"/>
              </a:srgbClr>
            </a:outerShdw>
          </a:effectLst>
        </p:spPr>
      </p:pic>
      <p:pic>
        <p:nvPicPr>
          <p:cNvPr id="174" name="Картина 10" descr="Картина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Картина 6" descr="Картина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0700" y="661307"/>
            <a:ext cx="8521700" cy="547823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92100" dist="139700" dir="2700000">
              <a:srgbClr val="333333">
                <a:alpha val="64999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Текстово поле 2"/>
          <p:cNvSpPr txBox="1"/>
          <p:nvPr/>
        </p:nvSpPr>
        <p:spPr>
          <a:xfrm>
            <a:off x="2114300" y="782581"/>
            <a:ext cx="7963397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Предимства и недостатъци</a:t>
            </a:r>
          </a:p>
        </p:txBody>
      </p:sp>
      <p:sp>
        <p:nvSpPr>
          <p:cNvPr id="179" name="Правоъгълник 3"/>
          <p:cNvSpPr/>
          <p:nvPr/>
        </p:nvSpPr>
        <p:spPr>
          <a:xfrm>
            <a:off x="-1" y="0"/>
            <a:ext cx="5327376" cy="21418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0" name="Правоъгълник 4"/>
          <p:cNvSpPr/>
          <p:nvPr/>
        </p:nvSpPr>
        <p:spPr>
          <a:xfrm>
            <a:off x="-1" y="214183"/>
            <a:ext cx="7241059" cy="214184"/>
          </a:xfrm>
          <a:prstGeom prst="rect">
            <a:avLst/>
          </a:prstGeom>
          <a:solidFill>
            <a:srgbClr val="F2B8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81" name="Картина 6" descr="Картина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71005"/>
            <a:ext cx="1869184" cy="686996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Текстово поле 6"/>
          <p:cNvSpPr txBox="1"/>
          <p:nvPr/>
        </p:nvSpPr>
        <p:spPr>
          <a:xfrm>
            <a:off x="423404" y="2039548"/>
            <a:ext cx="7633866" cy="1859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chemeClr val="accent4"/>
              </a:buClr>
              <a:buSzPct val="100000"/>
              <a:buFont typeface="Arial"/>
              <a:buChar char="✓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Предимства: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Богат избор от вградени инструменти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Интеграция с множество външни системи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Адаптация към методологията на разработка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Ефикасен интерфейс</a:t>
            </a:r>
          </a:p>
        </p:txBody>
      </p:sp>
      <p:sp>
        <p:nvSpPr>
          <p:cNvPr id="183" name="Текстово поле 6"/>
          <p:cNvSpPr txBox="1"/>
          <p:nvPr/>
        </p:nvSpPr>
        <p:spPr>
          <a:xfrm>
            <a:off x="2442119" y="4225883"/>
            <a:ext cx="8201219" cy="1859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01052" indent="-401052">
              <a:buClr>
                <a:srgbClr val="F6C244"/>
              </a:buClr>
              <a:buSzPct val="100000"/>
              <a:buAutoNum type="alphaUcPeriod" startAt="24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Недостатъци: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Сложност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Липсва персонализация на отчети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Наследява недостатъците на WEB приложенията</a:t>
            </a:r>
          </a:p>
          <a:p>
            <a:pPr lvl="1" marL="800100" indent="-342900">
              <a:buClr>
                <a:schemeClr val="accent4"/>
              </a:buClr>
              <a:buSzPct val="100000"/>
              <a:buFont typeface="Courier New"/>
              <a:buChar char="o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Може ли да си го позволим? $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Текстово поле 1"/>
          <p:cNvSpPr txBox="1"/>
          <p:nvPr/>
        </p:nvSpPr>
        <p:spPr>
          <a:xfrm>
            <a:off x="2404422" y="3390525"/>
            <a:ext cx="7383156" cy="2377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6400">
                <a:solidFill>
                  <a:schemeClr val="accent4">
                    <a:lumOff val="-9999"/>
                  </a:schemeClr>
                </a:solidFill>
                <a:effectLst>
                  <a:outerShdw sx="100000" sy="100000" kx="0" ky="0" algn="b" rotWithShape="0" blurRad="38100" dist="19050" dir="2700000">
                    <a:srgbClr val="000000">
                      <a:alpha val="40000"/>
                    </a:srgbClr>
                  </a:outerShdw>
                </a:effectLst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Благодарим Ви за вниманието!</a:t>
            </a:r>
          </a:p>
        </p:txBody>
      </p:sp>
      <p:pic>
        <p:nvPicPr>
          <p:cNvPr id="18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758800">
            <a:off x="8573775" y="4603"/>
            <a:ext cx="2134227" cy="21342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Картина 5" descr="Картина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082831" y="1183713"/>
            <a:ext cx="5410202" cy="19874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20841200">
            <a:off x="867863" y="4602"/>
            <a:ext cx="2134225" cy="21342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на Office">
  <a:themeElements>
    <a:clrScheme name="Тема н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н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н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Тема на Office">
  <a:themeElements>
    <a:clrScheme name="Тема н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н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н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